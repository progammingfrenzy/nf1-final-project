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CF8142-AB7A-4D2F-9F89-BFE6F43450DD}" v="38" dt="2026-04-26T01:14:14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sha Khwaja" userId="c44011392c70abb0" providerId="LiveId" clId="{FF23D62D-40FD-4433-924F-06BCF4567765}"/>
    <pc:docChg chg="undo custSel addSld modSld">
      <pc:chgData name="Aisha Khwaja" userId="c44011392c70abb0" providerId="LiveId" clId="{FF23D62D-40FD-4433-924F-06BCF4567765}" dt="2026-04-26T01:26:07.414" v="435" actId="20577"/>
      <pc:docMkLst>
        <pc:docMk/>
      </pc:docMkLst>
      <pc:sldChg chg="delSp modSp mod">
        <pc:chgData name="Aisha Khwaja" userId="c44011392c70abb0" providerId="LiveId" clId="{FF23D62D-40FD-4433-924F-06BCF4567765}" dt="2026-04-22T13:00:34.869" v="195" actId="478"/>
        <pc:sldMkLst>
          <pc:docMk/>
          <pc:sldMk cId="0" sldId="256"/>
        </pc:sldMkLst>
      </pc:sldChg>
      <pc:sldChg chg="delSp modSp mod">
        <pc:chgData name="Aisha Khwaja" userId="c44011392c70abb0" providerId="LiveId" clId="{FF23D62D-40FD-4433-924F-06BCF4567765}" dt="2026-04-15T18:41:01.554" v="185" actId="478"/>
        <pc:sldMkLst>
          <pc:docMk/>
          <pc:sldMk cId="0" sldId="257"/>
        </pc:sldMkLst>
      </pc:sldChg>
      <pc:sldChg chg="addSp delSp modSp mod">
        <pc:chgData name="Aisha Khwaja" userId="c44011392c70abb0" providerId="LiveId" clId="{FF23D62D-40FD-4433-924F-06BCF4567765}" dt="2026-04-22T14:07:44.913" v="196" actId="27918"/>
        <pc:sldMkLst>
          <pc:docMk/>
          <pc:sldMk cId="0" sldId="258"/>
        </pc:sldMkLst>
        <pc:spChg chg="mod">
          <ac:chgData name="Aisha Khwaja" userId="c44011392c70abb0" providerId="LiveId" clId="{FF23D62D-40FD-4433-924F-06BCF4567765}" dt="2026-04-15T18:21:13.110" v="128" actId="1076"/>
          <ac:spMkLst>
            <pc:docMk/>
            <pc:sldMk cId="0" sldId="258"/>
            <ac:spMk id="22" creationId="{00000000-0000-0000-0000-000000000000}"/>
          </ac:spMkLst>
        </pc:spChg>
        <pc:graphicFrameChg chg="add mod">
          <ac:chgData name="Aisha Khwaja" userId="c44011392c70abb0" providerId="LiveId" clId="{FF23D62D-40FD-4433-924F-06BCF4567765}" dt="2026-04-15T18:42:03.508" v="186"/>
          <ac:graphicFrameMkLst>
            <pc:docMk/>
            <pc:sldMk cId="0" sldId="258"/>
            <ac:graphicFrameMk id="44" creationId="{0AA14A0A-6A47-7D60-417A-FAA08D2D6B2A}"/>
          </ac:graphicFrameMkLst>
        </pc:graphicFrameChg>
      </pc:sldChg>
      <pc:sldChg chg="modSp mod">
        <pc:chgData name="Aisha Khwaja" userId="c44011392c70abb0" providerId="LiveId" clId="{FF23D62D-40FD-4433-924F-06BCF4567765}" dt="2026-04-15T18:24:05.395" v="141" actId="1076"/>
        <pc:sldMkLst>
          <pc:docMk/>
          <pc:sldMk cId="0" sldId="259"/>
        </pc:sldMkLst>
        <pc:spChg chg="mod">
          <ac:chgData name="Aisha Khwaja" userId="c44011392c70abb0" providerId="LiveId" clId="{FF23D62D-40FD-4433-924F-06BCF4567765}" dt="2026-04-15T18:24:05.395" v="141" actId="1076"/>
          <ac:spMkLst>
            <pc:docMk/>
            <pc:sldMk cId="0" sldId="259"/>
            <ac:spMk id="32" creationId="{00000000-0000-0000-0000-000000000000}"/>
          </ac:spMkLst>
        </pc:spChg>
      </pc:sldChg>
      <pc:sldChg chg="modSp mod">
        <pc:chgData name="Aisha Khwaja" userId="c44011392c70abb0" providerId="LiveId" clId="{FF23D62D-40FD-4433-924F-06BCF4567765}" dt="2026-04-15T18:26:53.544" v="155" actId="1076"/>
        <pc:sldMkLst>
          <pc:docMk/>
          <pc:sldMk cId="0" sldId="260"/>
        </pc:sldMkLst>
        <pc:spChg chg="mod">
          <ac:chgData name="Aisha Khwaja" userId="c44011392c70abb0" providerId="LiveId" clId="{FF23D62D-40FD-4433-924F-06BCF4567765}" dt="2026-04-15T18:26:45.661" v="154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Aisha Khwaja" userId="c44011392c70abb0" providerId="LiveId" clId="{FF23D62D-40FD-4433-924F-06BCF4567765}" dt="2026-04-15T18:26:53.544" v="155" actId="1076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Aisha Khwaja" userId="c44011392c70abb0" providerId="LiveId" clId="{FF23D62D-40FD-4433-924F-06BCF4567765}" dt="2026-04-22T12:58:13.510" v="190" actId="20577"/>
        <pc:sldMkLst>
          <pc:docMk/>
          <pc:sldMk cId="0" sldId="261"/>
        </pc:sldMkLst>
        <pc:spChg chg="mod">
          <ac:chgData name="Aisha Khwaja" userId="c44011392c70abb0" providerId="LiveId" clId="{FF23D62D-40FD-4433-924F-06BCF4567765}" dt="2026-04-22T12:57:48.678" v="188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Aisha Khwaja" userId="c44011392c70abb0" providerId="LiveId" clId="{FF23D62D-40FD-4433-924F-06BCF4567765}" dt="2026-04-15T18:26:17.258" v="151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Aisha Khwaja" userId="c44011392c70abb0" providerId="LiveId" clId="{FF23D62D-40FD-4433-924F-06BCF4567765}" dt="2026-04-15T18:26:25.744" v="153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isha Khwaja" userId="c44011392c70abb0" providerId="LiveId" clId="{FF23D62D-40FD-4433-924F-06BCF4567765}" dt="2026-04-15T18:22:01.658" v="132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isha Khwaja" userId="c44011392c70abb0" providerId="LiveId" clId="{FF23D62D-40FD-4433-924F-06BCF4567765}" dt="2026-04-15T18:22:15.675" v="133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isha Khwaja" userId="c44011392c70abb0" providerId="LiveId" clId="{FF23D62D-40FD-4433-924F-06BCF4567765}" dt="2026-04-15T18:22:20.526" v="134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isha Khwaja" userId="c44011392c70abb0" providerId="LiveId" clId="{FF23D62D-40FD-4433-924F-06BCF4567765}" dt="2026-04-22T12:58:13.510" v="190" actId="20577"/>
          <ac:spMkLst>
            <pc:docMk/>
            <pc:sldMk cId="0" sldId="261"/>
            <ac:spMk id="17" creationId="{00000000-0000-0000-0000-000000000000}"/>
          </ac:spMkLst>
        </pc:spChg>
      </pc:sldChg>
      <pc:sldChg chg="addSp delSp modSp new mod chgLayout">
        <pc:chgData name="Aisha Khwaja" userId="c44011392c70abb0" providerId="LiveId" clId="{FF23D62D-40FD-4433-924F-06BCF4567765}" dt="2026-04-26T01:26:07.414" v="435" actId="20577"/>
        <pc:sldMkLst>
          <pc:docMk/>
          <pc:sldMk cId="2210715242" sldId="262"/>
        </pc:sldMkLst>
        <pc:spChg chg="add del mod">
          <ac:chgData name="Aisha Khwaja" userId="c44011392c70abb0" providerId="LiveId" clId="{FF23D62D-40FD-4433-924F-06BCF4567765}" dt="2026-04-26T01:16:52.699" v="393" actId="478"/>
          <ac:spMkLst>
            <pc:docMk/>
            <pc:sldMk cId="2210715242" sldId="262"/>
            <ac:spMk id="2" creationId="{2CF5AC0C-3A16-3033-6545-19FABE12E367}"/>
          </ac:spMkLst>
        </pc:spChg>
        <pc:spChg chg="add mod">
          <ac:chgData name="Aisha Khwaja" userId="c44011392c70abb0" providerId="LiveId" clId="{FF23D62D-40FD-4433-924F-06BCF4567765}" dt="2026-04-26T01:26:07.414" v="435" actId="20577"/>
          <ac:spMkLst>
            <pc:docMk/>
            <pc:sldMk cId="2210715242" sldId="262"/>
            <ac:spMk id="3" creationId="{7A777A71-04AC-A0FD-C4E3-686DD3D6B974}"/>
          </ac:spMkLst>
        </pc:spChg>
        <pc:spChg chg="add mod ord">
          <ac:chgData name="Aisha Khwaja" userId="c44011392c70abb0" providerId="LiveId" clId="{FF23D62D-40FD-4433-924F-06BCF4567765}" dt="2026-04-26T01:16:56.218" v="394" actId="14100"/>
          <ac:spMkLst>
            <pc:docMk/>
            <pc:sldMk cId="2210715242" sldId="262"/>
            <ac:spMk id="6" creationId="{B0D2DFBB-C9E1-4F23-CA94-607E9EBA77C6}"/>
          </ac:spMkLst>
        </pc:spChg>
        <pc:spChg chg="add del mod">
          <ac:chgData name="Aisha Khwaja" userId="c44011392c70abb0" providerId="LiveId" clId="{FF23D62D-40FD-4433-924F-06BCF4567765}" dt="2026-04-26T01:10:13.295" v="313" actId="478"/>
          <ac:spMkLst>
            <pc:docMk/>
            <pc:sldMk cId="2210715242" sldId="262"/>
            <ac:spMk id="7" creationId="{A40BFD07-1BD1-1DA8-F6C1-347FBAB7827C}"/>
          </ac:spMkLst>
        </pc:spChg>
        <pc:spChg chg="add mod">
          <ac:chgData name="Aisha Khwaja" userId="c44011392c70abb0" providerId="LiveId" clId="{FF23D62D-40FD-4433-924F-06BCF4567765}" dt="2026-04-26T01:25:35.935" v="432" actId="14100"/>
          <ac:spMkLst>
            <pc:docMk/>
            <pc:sldMk cId="2210715242" sldId="262"/>
            <ac:spMk id="8" creationId="{125FAB4E-E377-B209-C8D9-F7729827ABBE}"/>
          </ac:spMkLst>
        </pc:spChg>
        <pc:spChg chg="add mod">
          <ac:chgData name="Aisha Khwaja" userId="c44011392c70abb0" providerId="LiveId" clId="{FF23D62D-40FD-4433-924F-06BCF4567765}" dt="2026-04-26T01:25:30.835" v="431" actId="14100"/>
          <ac:spMkLst>
            <pc:docMk/>
            <pc:sldMk cId="2210715242" sldId="262"/>
            <ac:spMk id="9" creationId="{C71DAAE2-8307-AA30-9548-25A9987768CE}"/>
          </ac:spMkLst>
        </pc:spChg>
        <pc:spChg chg="add mod">
          <ac:chgData name="Aisha Khwaja" userId="c44011392c70abb0" providerId="LiveId" clId="{FF23D62D-40FD-4433-924F-06BCF4567765}" dt="2026-04-26T01:19:56.362" v="422" actId="1076"/>
          <ac:spMkLst>
            <pc:docMk/>
            <pc:sldMk cId="2210715242" sldId="262"/>
            <ac:spMk id="10" creationId="{CA2F8720-280B-D323-5337-F8D084161DCC}"/>
          </ac:spMkLst>
        </pc:spChg>
        <pc:picChg chg="add mod">
          <ac:chgData name="Aisha Khwaja" userId="c44011392c70abb0" providerId="LiveId" clId="{FF23D62D-40FD-4433-924F-06BCF4567765}" dt="2026-04-26T01:17:08.274" v="398" actId="1076"/>
          <ac:picMkLst>
            <pc:docMk/>
            <pc:sldMk cId="2210715242" sldId="262"/>
            <ac:picMk id="5" creationId="{09D6BE50-A5B8-190B-4C2E-06B0C48FD5B8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LogReg</c:v>
                </c:pt>
                <c:pt idx="1">
                  <c:v>SVM</c:v>
                </c:pt>
                <c:pt idx="2">
                  <c:v>Random Forest</c:v>
                </c:pt>
                <c:pt idx="3">
                  <c:v>TabPFN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0.48297899999999999</c:v>
                </c:pt>
                <c:pt idx="1">
                  <c:v>0.44503500000000001</c:v>
                </c:pt>
                <c:pt idx="2">
                  <c:v>0.462057</c:v>
                </c:pt>
                <c:pt idx="3">
                  <c:v>0.49991099999999999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6F-475B-BC8F-799145D6EB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 F1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LogReg</c:v>
                </c:pt>
                <c:pt idx="1">
                  <c:v>SVM</c:v>
                </c:pt>
                <c:pt idx="2">
                  <c:v>Random Forest</c:v>
                </c:pt>
                <c:pt idx="3">
                  <c:v>TabPFN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0.44466499999999998</c:v>
                </c:pt>
                <c:pt idx="1">
                  <c:v>0.41370699999999999</c:v>
                </c:pt>
                <c:pt idx="2">
                  <c:v>0.35649599999999998</c:v>
                </c:pt>
                <c:pt idx="3">
                  <c:v>6.1178000000000003E-2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D6F-475B-BC8F-799145D6EB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CV AUC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LogReg</c:v>
                </c:pt>
                <c:pt idx="1">
                  <c:v>SVM</c:v>
                </c:pt>
                <c:pt idx="2">
                  <c:v>Random Forest</c:v>
                </c:pt>
                <c:pt idx="3">
                  <c:v>TabPFN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0.49189899999999998</c:v>
                </c:pt>
                <c:pt idx="1">
                  <c:v>0.48762800000000001</c:v>
                </c:pt>
                <c:pt idx="2">
                  <c:v>0.43454900000000002</c:v>
                </c:pt>
                <c:pt idx="3">
                  <c:v>0.41968699999999998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6F-475B-BC8F-799145D6EB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axId val="1011486991"/>
        <c:axId val="1011474991"/>
      </c:barChart>
      <c:catAx>
        <c:axId val="1011486991"/>
        <c:scaling>
          <c:orientation val="minMax"/>
        </c:scaling>
        <c:delete val="0"/>
        <c:axPos val="l"/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474991"/>
        <c:crosses val="autoZero"/>
        <c:auto val="1"/>
        <c:lblAlgn val="ctr"/>
        <c:lblOffset val="100"/>
        <c:noMultiLvlLbl val="0"/>
      </c:catAx>
      <c:valAx>
        <c:axId val="1011474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>
              <a:solidFill>
                <a:schemeClr val="tx2">
                  <a:lumMod val="5000"/>
                  <a:lumOff val="95000"/>
                </a:schemeClr>
              </a:solidFill>
            </a:ln>
            <a:effectLst/>
          </c:spPr>
        </c:minorGridlines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486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72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framing based on the user-uploaded final deck NF1_final_presentation.pptx and the user-provided code/results in chat.
- Result summary based on the user-shared execution output for the NF1 project on 2026-04-14.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paper THDBD-06337-RESEARCH_ARTICLE-SHARAFI.pdf: NF1 described as a complex neurogenetic disorder with highly variable clinical presentation, and about 50% of cases are sporadic.
- User-provided code and outputs in chat: dataset size after cleaning, models tested, ANOVA ranking, and top-feature Logistic Regression.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execution output in chat on 2026-04-14: CV AUC values for LogReg (0.491899), SVM (0.487628), RandomForest (0.434549), TabPFN (0.419687); full-feature LogReg test accuracy 0.433333, F1 0.320000, AUC 0.503928.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execution output in chat on 2026-04-14: top-feature Logistic Regression accuracy 0.583333, F1 0.418605, AUC 0.597643; top ANOVA features were Lisch nodules, optic glioma, café au lait spots, skeletal dysplasia, hypertension, tumour case, hamartoma, and plexiform neurofibromins.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paper THDBD-06337-RESEARCH_ARTICLE-SHARAFI.pdf: NF1 described as having highly variable clinical presentation; paper reports ANOVA-highlighted features including Lisch nodules, hypertension, and bone dysplasia, and states that prediction was only moderately successful.
- User-provided ANOVA ranking and model output in chat on 2026-04-14.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Final presentation rubric text provided by the user in chat on 2026-04-14: slides should answer the problem/what was done, results so far, and what work remains/plan to finish.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F3D66"/>
          </a:solidFill>
          <a:ln w="12700">
            <a:solidFill>
              <a:srgbClr val="0F3D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66960" y="914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CAP6545 Final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Aisha Khwaja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188720"/>
            <a:ext cx="1078992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1737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NF1 Familial vs. Sporadic Classification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" y="25146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467"/>
                </a:solidFill>
              </a:rPr>
              <a:t>Using symptom data, feature ranking, and model comparison to test whether the two NF1 groups can be separated.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87552" y="338328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3566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D66"/>
                </a:solidFill>
              </a:rPr>
              <a:t>Problem → what I did → results → what remains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Final presentation · Aisha Khwaja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What is the problem, and what have I done?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9692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467"/>
                </a:solidFill>
              </a:rPr>
              <a:t>This slide answers the first rubric question directly.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39496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47218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66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4754880" cy="1783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31140" indent="-23114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</a:rPr>
              <a:t>NF1 symptoms vary a lot from patient to patient.</a:t>
            </a:r>
            <a:endParaRPr lang="en-US" sz="1400" dirty="0"/>
          </a:p>
          <a:p>
            <a:pPr marL="231140" indent="-23114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</a:rPr>
              <a:t>Familial and sporadic cases can still look similar clinically.</a:t>
            </a:r>
            <a:endParaRPr lang="en-US" sz="1400" dirty="0"/>
          </a:p>
          <a:p>
            <a:pPr marL="231140" indent="-23114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</a:rPr>
              <a:t>My question was whether symptom data alone contains enough signal to tell the two groups apart.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325880"/>
            <a:ext cx="53492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55080" y="1472184"/>
            <a:ext cx="4983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66"/>
                </a:solidFill>
              </a:rPr>
              <a:t>What I have done so far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28232" y="178308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31140" indent="-23114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</a:rPr>
              <a:t>Used the UCI NF1 clinical symptom dataset.</a:t>
            </a:r>
            <a:endParaRPr lang="en-US" sz="1400" dirty="0"/>
          </a:p>
          <a:p>
            <a:pPr marL="231140" indent="-23114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</a:rPr>
              <a:t>Cleaned the data to 296 samples and 19 columns.</a:t>
            </a:r>
            <a:endParaRPr lang="en-US" sz="1400" dirty="0"/>
          </a:p>
          <a:p>
            <a:pPr marL="231140" indent="-23114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</a:rPr>
              <a:t>Compared Logistic Regression, SVM, Random Forest, and TabPFN.</a:t>
            </a:r>
            <a:endParaRPr lang="en-US" sz="1400" dirty="0"/>
          </a:p>
          <a:p>
            <a:pPr marL="231140" indent="-23114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</a:rPr>
              <a:t>Added ANOVA feature ranking and a top-feature Logistic Regression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Results so far: full-feature model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9692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467"/>
                </a:solidFill>
              </a:rPr>
              <a:t>The first result was that using every symptom at once did not work very well.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354141" y="55778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66"/>
                </a:solidFill>
              </a:rPr>
              <a:t>Best full-feature model on test set: Logistic Regression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0" y="137160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0" y="15179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66"/>
                </a:solidFill>
              </a:rPr>
              <a:t>Full-feature test metrics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43800" y="1828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</a:rPr>
              <a:t>Accuracy  0.433     F1  0.320     AUC  0.504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0" y="269748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E7F8F6"/>
          </a:solidFill>
          <a:ln w="12700">
            <a:solidFill>
              <a:srgbClr val="E7F8F6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0" y="28437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What surprised 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0" y="311810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01828"/>
                </a:solidFill>
              </a:rPr>
              <a:t>TabPFN was included as the recent method, but it did not outperform the older baselines on the full feature set.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0" y="425196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FFF5E8"/>
          </a:solidFill>
          <a:ln w="12700">
            <a:solidFill>
              <a:srgbClr val="FFF5E8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98080" y="4398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4708"/>
                </a:solidFill>
              </a:rPr>
              <a:t>Main point from this slide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98080" y="467258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01828"/>
                </a:solidFill>
              </a:rPr>
              <a:t>The full dataset looked noisy. Using every symptom at once kept performance close to chance.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0AA14A0A-6A47-7D60-417A-FAA08D2D6B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3265271"/>
              </p:ext>
            </p:extLst>
          </p:nvPr>
        </p:nvGraphicFramePr>
        <p:xfrm>
          <a:off x="358213" y="1356363"/>
          <a:ext cx="6661804" cy="4108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Results so far: the best improvement came from feature selection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9692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467"/>
                </a:solidFill>
              </a:rPr>
              <a:t>This ended up being the most useful result in the project.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56362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66"/>
                </a:solidFill>
              </a:rPr>
              <a:t>Full-feature Logistic Regression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</a:rPr>
              <a:t>Accuracy  0.433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</a:rPr>
              <a:t>F1  0.320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</a:rPr>
              <a:t>AUC  0.504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26280" y="1828800"/>
            <a:ext cx="640080" cy="731520"/>
          </a:xfrm>
          <a:prstGeom prst="chevron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40680" y="14173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7F8F6"/>
          </a:solidFill>
          <a:ln w="12700">
            <a:solidFill>
              <a:srgbClr val="E7F8F6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23560" y="15636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Top 8 ANOVA-ranked features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06440" y="19202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</a:rPr>
              <a:t>Accuracy  0.583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</a:rPr>
              <a:t>F1  0.419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</a:rPr>
              <a:t>AUC  0.598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81160" y="141732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64040" y="15636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66"/>
                </a:solidFill>
              </a:rPr>
              <a:t>Takeaway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64040" y="1837944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1828"/>
                </a:solidFill>
              </a:rPr>
              <a:t>Feature selection helped more than model novelty.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6576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D66"/>
                </a:solidFill>
              </a:rPr>
              <a:t>Top ANOVA-ranked symptoms used in the improved model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023360"/>
            <a:ext cx="1276502" cy="384048"/>
          </a:xfrm>
          <a:prstGeom prst="roundRect">
            <a:avLst>
              <a:gd name="adj" fmla="val 11905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" y="4114800"/>
            <a:ext cx="113019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8"/>
                </a:solidFill>
              </a:rPr>
              <a:t>Lisch nodules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54910" y="4023360"/>
            <a:ext cx="1228954" cy="384048"/>
          </a:xfrm>
          <a:prstGeom prst="roundRect">
            <a:avLst>
              <a:gd name="adj" fmla="val 11905"/>
            </a:avLst>
          </a:prstGeom>
          <a:solidFill>
            <a:srgbClr val="E7F8F6"/>
          </a:solidFill>
          <a:ln w="12700">
            <a:solidFill>
              <a:srgbClr val="E7F8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28062" y="4114800"/>
            <a:ext cx="108265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8"/>
                </a:solidFill>
              </a:rPr>
              <a:t>Optic glioma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93592" y="4023360"/>
            <a:ext cx="1514246" cy="384048"/>
          </a:xfrm>
          <a:prstGeom prst="roundRect">
            <a:avLst>
              <a:gd name="adj" fmla="val 11905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66744" y="4114800"/>
            <a:ext cx="136794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8"/>
                </a:solidFill>
              </a:rPr>
              <a:t>Café au lait spots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17566" y="4023360"/>
            <a:ext cx="1514246" cy="384048"/>
          </a:xfrm>
          <a:prstGeom prst="roundRect">
            <a:avLst>
              <a:gd name="adj" fmla="val 11905"/>
            </a:avLst>
          </a:prstGeom>
          <a:solidFill>
            <a:srgbClr val="E7F8F6"/>
          </a:solidFill>
          <a:ln w="12700">
            <a:solidFill>
              <a:srgbClr val="E7F8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90718" y="4114800"/>
            <a:ext cx="136794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8"/>
                </a:solidFill>
              </a:rPr>
              <a:t>Skeletal dysplasia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41541" y="4023360"/>
            <a:ext cx="1228954" cy="384048"/>
          </a:xfrm>
          <a:prstGeom prst="roundRect">
            <a:avLst>
              <a:gd name="adj" fmla="val 11905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14693" y="4114800"/>
            <a:ext cx="108265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8"/>
                </a:solidFill>
              </a:rPr>
              <a:t>Hypertension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80222" y="4023360"/>
            <a:ext cx="1181405" cy="384048"/>
          </a:xfrm>
          <a:prstGeom prst="roundRect">
            <a:avLst>
              <a:gd name="adj" fmla="val 11905"/>
            </a:avLst>
          </a:prstGeom>
          <a:solidFill>
            <a:srgbClr val="E7F8F6"/>
          </a:solidFill>
          <a:ln w="12700">
            <a:solidFill>
              <a:srgbClr val="E7F8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53374" y="4114800"/>
            <a:ext cx="10351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8"/>
                </a:solidFill>
              </a:rPr>
              <a:t>Tumour case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71355" y="4023360"/>
            <a:ext cx="1086307" cy="384048"/>
          </a:xfrm>
          <a:prstGeom prst="roundRect">
            <a:avLst>
              <a:gd name="adj" fmla="val 11905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544507" y="4114800"/>
            <a:ext cx="94000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8"/>
                </a:solidFill>
              </a:rPr>
              <a:t>Hamartoma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" y="4590288"/>
            <a:ext cx="1799539" cy="384048"/>
          </a:xfrm>
          <a:prstGeom prst="roundRect">
            <a:avLst>
              <a:gd name="adj" fmla="val 11905"/>
            </a:avLst>
          </a:prstGeom>
          <a:solidFill>
            <a:srgbClr val="E7F8F6"/>
          </a:solidFill>
          <a:ln w="12700">
            <a:solidFill>
              <a:srgbClr val="E7F8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41832" y="4681728"/>
            <a:ext cx="165323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8"/>
                </a:solidFill>
              </a:rPr>
              <a:t>Plexiform neurofibromins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25780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72263" y="5408676"/>
            <a:ext cx="9966960" cy="5394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3D66"/>
                </a:solidFill>
              </a:rPr>
              <a:t>This suggests the dataset contains some signal, but that signal is concentrated in a smaller subset of symptoms.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Results so far: what I think these results mean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9692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467"/>
                </a:solidFill>
              </a:rPr>
              <a:t>This is where I explain why the newer model did not outperform.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3492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63624"/>
            <a:ext cx="4983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66"/>
                </a:solidFill>
              </a:rPr>
              <a:t>Why TabPFN probably did not outperform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938528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2885" indent="-222885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828"/>
                </a:solidFill>
              </a:rPr>
              <a:t>The dataset is small for a difficult biomedical classification task.</a:t>
            </a:r>
            <a:endParaRPr lang="en-US" sz="1350" dirty="0"/>
          </a:p>
          <a:p>
            <a:pPr marL="222885" indent="-222885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828"/>
                </a:solidFill>
              </a:rPr>
              <a:t>Using every symptom at once likely added noise.</a:t>
            </a:r>
            <a:endParaRPr lang="en-US" sz="1350" dirty="0"/>
          </a:p>
          <a:p>
            <a:pPr marL="222885" indent="-222885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828"/>
                </a:solidFill>
              </a:rPr>
              <a:t>A newer model does not automatically win when the class boundary is weak.</a:t>
            </a:r>
            <a:endParaRPr lang="en-US" sz="1350" dirty="0"/>
          </a:p>
          <a:p>
            <a:pPr marL="222885" indent="-222885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828"/>
                </a:solidFill>
              </a:rPr>
              <a:t>In this project, selecting informative symptoms mattered more than extra model complexity.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16636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46520" y="1563624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66"/>
                </a:solidFill>
              </a:rPr>
              <a:t>Biological interpretation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938528"/>
            <a:ext cx="4617720" cy="2194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2885" indent="-222885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828"/>
                </a:solidFill>
              </a:rPr>
              <a:t>Familial and sporadic NF1 may overlap too much to be strongly separated from symptom data alone.</a:t>
            </a:r>
            <a:endParaRPr lang="en-US" sz="1350" dirty="0"/>
          </a:p>
          <a:p>
            <a:pPr marL="222885" indent="-222885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828"/>
                </a:solidFill>
              </a:rPr>
              <a:t>My analysis and the source paper both point to symptoms like Lisch nodules, hypertension, and skeletal or bone dysplasia as useful signals.</a:t>
            </a:r>
            <a:endParaRPr lang="en-US" sz="1350" dirty="0"/>
          </a:p>
          <a:p>
            <a:pPr marL="222885" indent="-222885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828"/>
                </a:solidFill>
              </a:rPr>
              <a:t>So, the result is modest, but it is still biologically interpretable.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What work remains, and what is my plan to finish?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9692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467"/>
                </a:solidFill>
              </a:rPr>
              <a:t>This slide answers the last rubric question.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444752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591056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66"/>
                </a:solidFill>
              </a:rPr>
              <a:t>Work remaining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7552" y="1847088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2885" indent="-222885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828"/>
                </a:solidFill>
              </a:rPr>
              <a:t>Clean up code comments and make the final script easier to follow.</a:t>
            </a:r>
            <a:endParaRPr lang="en-US" sz="1350" dirty="0"/>
          </a:p>
          <a:p>
            <a:pPr marL="222885" indent="-222885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828"/>
                </a:solidFill>
              </a:rPr>
              <a:t>Finish the README and organize the support files into one zipped folder.</a:t>
            </a:r>
            <a:endParaRPr lang="en-US" sz="1350" dirty="0"/>
          </a:p>
          <a:p>
            <a:pPr marL="222885" indent="-222885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828"/>
                </a:solidFill>
              </a:rPr>
              <a:t>Write up the biological interpretation more clearly in the final report.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6208" y="1444752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19088" y="1591056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66"/>
                </a:solidFill>
              </a:rPr>
              <a:t>Plan to finish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01384" y="1993392"/>
            <a:ext cx="347472" cy="34747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202996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95160" y="2006245"/>
            <a:ext cx="414154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01828"/>
                </a:solidFill>
              </a:rPr>
              <a:t>Finish the final analysis and export the result tables.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501384" y="2670048"/>
            <a:ext cx="347472" cy="34747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28816" y="270662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95160" y="27386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01828"/>
                </a:solidFill>
              </a:rPr>
              <a:t>Finish documentation: README, comments, dataset links, and zip folder.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501384" y="3364992"/>
            <a:ext cx="347472" cy="34747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37960" y="340156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3336267"/>
            <a:ext cx="3749040" cy="463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01828"/>
                </a:solidFill>
              </a:rPr>
              <a:t>Submit the final report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D2DFBB-C9E1-4F23-CA94-607E9EBA77C6}"/>
              </a:ext>
            </a:extLst>
          </p:cNvPr>
          <p:cNvSpPr/>
          <p:nvPr/>
        </p:nvSpPr>
        <p:spPr>
          <a:xfrm>
            <a:off x="703050" y="664234"/>
            <a:ext cx="9683153" cy="5391509"/>
          </a:xfrm>
          <a:prstGeom prst="roundRect">
            <a:avLst/>
          </a:prstGeom>
          <a:effectLst>
            <a:softEdge rad="12700"/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77A71-04AC-A0FD-C4E3-686DD3D6B974}"/>
              </a:ext>
            </a:extLst>
          </p:cNvPr>
          <p:cNvSpPr txBox="1"/>
          <p:nvPr/>
        </p:nvSpPr>
        <p:spPr>
          <a:xfrm>
            <a:off x="1513935" y="1834498"/>
            <a:ext cx="8328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F3D66"/>
                </a:solidFill>
              </a:rPr>
              <a:t>GitHub </a:t>
            </a:r>
            <a:r>
              <a:rPr lang="en-US" sz="1400" b="1" dirty="0">
                <a:solidFill>
                  <a:srgbClr val="0F3D66"/>
                </a:solidFill>
              </a:rPr>
              <a:t>Repository: </a:t>
            </a:r>
            <a:r>
              <a:rPr lang="en-US" sz="1400" dirty="0"/>
              <a:t>https://github.com/Progammingfrenzy/nf1-final-project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6BE50-A5B8-190B-4C2E-06B0C48FD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218" y="1579088"/>
            <a:ext cx="560717" cy="5607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5FAB4E-E377-B209-C8D9-F7729827ABBE}"/>
              </a:ext>
            </a:extLst>
          </p:cNvPr>
          <p:cNvSpPr txBox="1"/>
          <p:nvPr/>
        </p:nvSpPr>
        <p:spPr>
          <a:xfrm>
            <a:off x="1513935" y="1120694"/>
            <a:ext cx="355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r>
              <a:rPr lang="en-US" b="1" dirty="0">
                <a:solidFill>
                  <a:srgbClr val="0F3D66"/>
                </a:solidFill>
                <a:latin typeface="Aptos Display" pitchFamily="34" charset="0"/>
              </a:rPr>
              <a:t>My Repository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1DAAE2-8307-AA30-9548-25A9987768CE}"/>
              </a:ext>
            </a:extLst>
          </p:cNvPr>
          <p:cNvSpPr txBox="1"/>
          <p:nvPr/>
        </p:nvSpPr>
        <p:spPr>
          <a:xfrm>
            <a:off x="1380226" y="2869993"/>
            <a:ext cx="3687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r>
              <a:rPr lang="en-US" b="1" dirty="0">
                <a:solidFill>
                  <a:srgbClr val="0F3D66"/>
                </a:solidFill>
                <a:latin typeface="Aptos Display" pitchFamily="34" charset="0"/>
              </a:rPr>
              <a:t>References / Data 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2F8720-280B-D323-5337-F8D084161DCC}"/>
              </a:ext>
            </a:extLst>
          </p:cNvPr>
          <p:cNvSpPr txBox="1"/>
          <p:nvPr/>
        </p:nvSpPr>
        <p:spPr>
          <a:xfrm>
            <a:off x="953217" y="3360096"/>
            <a:ext cx="9294963" cy="19818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dirty="0"/>
              <a:t>Sharafi et al. “A machine learning approach for predicting familial and sporadic disease cases based on clinical symptoms: introduction of a new dataset.”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dirty="0"/>
              <a:t>UCI Machine Learning Repository. “Neurofibromatosis Type 1; Clinical Symptoms of Familial and Sporadic Cases.”</a:t>
            </a:r>
          </a:p>
        </p:txBody>
      </p:sp>
    </p:spTree>
    <p:extLst>
      <p:ext uri="{BB962C8B-B14F-4D97-AF65-F5344CB8AC3E}">
        <p14:creationId xmlns:p14="http://schemas.microsoft.com/office/powerpoint/2010/main" val="2210715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</Words>
  <Application>Microsoft Office PowerPoint</Application>
  <PresentationFormat>Widescreen</PresentationFormat>
  <Paragraphs>95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NF1 Familial vs Sporadic Classification</dc:title>
  <dc:subject>NF1 final project presentation</dc:subject>
  <dc:creator>OpenAI</dc:creator>
  <cp:lastModifiedBy>Aisha Khwaja</cp:lastModifiedBy>
  <cp:revision>2</cp:revision>
  <dcterms:created xsi:type="dcterms:W3CDTF">2026-04-14T23:22:47Z</dcterms:created>
  <dcterms:modified xsi:type="dcterms:W3CDTF">2026-04-26T01:26:12Z</dcterms:modified>
</cp:coreProperties>
</file>